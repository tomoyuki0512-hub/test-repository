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Meiryo"/>
              </a:rPr>
              <a:t>光ファイバー 完全ガイド</a:t>
            </a:r>
          </a:p>
          <a:p>
            <a:r>
              <a:rPr sz="2200" b="0">
                <a:solidFill>
                  <a:srgbClr val="CFE0F2"/>
                </a:solidFill>
                <a:latin typeface="Meiryo"/>
              </a:rPr>
              <a:t>第1部：基礎のしくみ ／ 第2部：ケーブル・コードと接続部材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>
                <a:solidFill>
                  <a:srgbClr val="9FB6D0"/>
                </a:solidFill>
                <a:latin typeface="Meiryo"/>
              </a:rPr>
              <a:t>出典：docs/optical-fiber-guide.md・docs/optical-fiber-cable-types.md をまとめたスライド版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目次（アジェンダ）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第1部　光ファイバーの基礎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光ファイバーとは／なぜ光を使うのか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全反射のしくみ／3層構造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シングルモードとマルチモード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データの流れ・メリデメ・身近な用途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第2部　ケーブル・コードと接続部材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テープスロット型 vs 層より型ケーブル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単心／メガネ／FOコードの違い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ケーブルとコードの違い</a:t>
            </a:r>
          </a:p>
          <a:p>
            <a:pPr lvl="1"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  – 成端箱とクロージャの違い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第1部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光ファイバーの基礎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光ファイバーとは？（ざっくり結論）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髪の毛ほどの細さ（約0.125mm）の「ガラスの糸」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中を光（点いた/消えた）が通り、1と0でデータを運ぶ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速くて遠くまで弱まりにくい → 大量・高速・長距離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家の光回線・海底ケーブル・データセンターの土台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イメージ：光のモールス信号をガラスのストロー内で高速点滅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なぜ電気でなく「光」を使う？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1605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比較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銅線（電気）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光ファイバー（光）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速さ・容量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限界がある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けた違いに大きい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遠くへ送る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すぐ弱まる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弱まりにくい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ノイズ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電磁波に弱い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電気ノイズに強い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盗聴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されやすい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されにくい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重さ・太さ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重く太い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軽く細い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いちばん大事なしくみ：全反射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光は密度の違う物質の境目で曲がる/跳ね返る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ある角度より浅いと100%跳ね返る ＝ 全反射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  – たとえ：プールの底から水面を見ると底が鏡のように映る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中心(コア)を外側(クラッド)で包む構造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ジグザグに反射しながら進み曲げても漏れにくい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2103120"/>
            <a:ext cx="5212080" cy="2103120"/>
          </a:xfrm>
          <a:prstGeom prst="roundRect">
            <a:avLst/>
          </a:prstGeom>
          <a:solidFill>
            <a:srgbClr val="CFE0F2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0" y="2670962"/>
            <a:ext cx="5212080" cy="967435"/>
          </a:xfrm>
          <a:prstGeom prst="rect">
            <a:avLst/>
          </a:prstGeom>
          <a:solidFill>
            <a:srgbClr val="FFF3C4"/>
          </a:solidFill>
          <a:ln w="9525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6400800" y="2670962"/>
            <a:ext cx="1303020" cy="483717"/>
          </a:xfrm>
          <a:prstGeom prst="line">
            <a:avLst/>
          </a:prstGeom>
          <a:ln w="31750">
            <a:solidFill>
              <a:srgbClr val="D1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03820" y="2670962"/>
            <a:ext cx="1303020" cy="967435"/>
          </a:xfrm>
          <a:prstGeom prst="line">
            <a:avLst/>
          </a:prstGeom>
          <a:ln w="31750">
            <a:solidFill>
              <a:srgbClr val="D1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9006840" y="2670962"/>
            <a:ext cx="1303020" cy="967435"/>
          </a:xfrm>
          <a:prstGeom prst="line">
            <a:avLst/>
          </a:prstGeom>
          <a:ln w="31750">
            <a:solidFill>
              <a:srgbClr val="D1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309860" y="2670962"/>
            <a:ext cx="1303020" cy="483717"/>
          </a:xfrm>
          <a:prstGeom prst="line">
            <a:avLst/>
          </a:prstGeom>
          <a:ln w="31750">
            <a:solidFill>
              <a:srgbClr val="D1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7662672" y="2629814"/>
            <a:ext cx="82296" cy="82296"/>
          </a:xfrm>
          <a:prstGeom prst="ellipse">
            <a:avLst/>
          </a:prstGeom>
          <a:solidFill>
            <a:srgbClr val="D1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65692" y="3597249"/>
            <a:ext cx="82296" cy="82296"/>
          </a:xfrm>
          <a:prstGeom prst="ellipse">
            <a:avLst/>
          </a:prstGeom>
          <a:solidFill>
            <a:srgbClr val="D1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68712" y="2629814"/>
            <a:ext cx="82296" cy="82296"/>
          </a:xfrm>
          <a:prstGeom prst="ellipse">
            <a:avLst/>
          </a:prstGeom>
          <a:solidFill>
            <a:srgbClr val="D12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130551"/>
            <a:ext cx="4992624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100" b="1">
                <a:solidFill>
                  <a:srgbClr val="1F3A5F"/>
                </a:solidFill>
                <a:latin typeface="Meiryo"/>
              </a:rPr>
              <a:t>クラッド（跳ね返す壁）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3656685"/>
            <a:ext cx="4992624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100" b="1">
                <a:solidFill>
                  <a:srgbClr val="B89010"/>
                </a:solidFill>
                <a:latin typeface="Meiryo"/>
              </a:rPr>
              <a:t>コア（光の通り道）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480560"/>
            <a:ext cx="521208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300" b="1">
                <a:solidFill>
                  <a:srgbClr val="1F3A5F"/>
                </a:solidFill>
                <a:latin typeface="Meiryo"/>
              </a:rPr>
              <a:t>▲ 光が全反射しながら進むようす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3層構造（輪切りにすると）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17320"/>
          <a:ext cx="65836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017520"/>
                <a:gridCol w="201168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部分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たとえ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コア（芯）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光が通る道（屈折率 高）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水の通り道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クラッド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跳ね返す（屈折率 低）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鏡の壁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被覆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傷・水・曲げから守る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服・よろい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26280"/>
            <a:ext cx="6583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Meiryo"/>
              </a:rPr>
              <a:t>• ポイント：コア＞クラッドの屈折率差が全反射を生む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1371600"/>
            <a:ext cx="4206240" cy="3657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500" b="1">
                <a:solidFill>
                  <a:srgbClr val="1F3A5F"/>
                </a:solidFill>
                <a:latin typeface="Meiryo"/>
              </a:rPr>
              <a:t>断面図（輪切り）</a:t>
            </a:r>
          </a:p>
        </p:txBody>
      </p:sp>
      <p:sp>
        <p:nvSpPr>
          <p:cNvPr id="6" name="Oval 5"/>
          <p:cNvSpPr/>
          <p:nvPr/>
        </p:nvSpPr>
        <p:spPr>
          <a:xfrm>
            <a:off x="8229600" y="1874519"/>
            <a:ext cx="2377440" cy="2377440"/>
          </a:xfrm>
          <a:prstGeom prst="ellipse">
            <a:avLst/>
          </a:prstGeom>
          <a:solidFill>
            <a:srgbClr val="DDE3EA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62441" y="2207361"/>
            <a:ext cx="1711756" cy="1711756"/>
          </a:xfrm>
          <a:prstGeom prst="ellipse">
            <a:avLst/>
          </a:prstGeom>
          <a:solidFill>
            <a:srgbClr val="BFD6EE"/>
          </a:solidFill>
          <a:ln w="15875">
            <a:solidFill>
              <a:srgbClr val="2E6D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14155" y="2659075"/>
            <a:ext cx="808329" cy="808329"/>
          </a:xfrm>
          <a:prstGeom prst="ellipse">
            <a:avLst/>
          </a:prstGeom>
          <a:solidFill>
            <a:srgbClr val="FFEC99"/>
          </a:solidFill>
          <a:ln w="15875">
            <a:solidFill>
              <a:srgbClr val="D8B8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18120" y="4572000"/>
            <a:ext cx="219456" cy="219456"/>
          </a:xfrm>
          <a:prstGeom prst="rect">
            <a:avLst/>
          </a:prstGeom>
          <a:solidFill>
            <a:srgbClr val="FFEC99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47304" y="4553712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コア（光が通る芯）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992624"/>
            <a:ext cx="219456" cy="219456"/>
          </a:xfrm>
          <a:prstGeom prst="rect">
            <a:avLst/>
          </a:prstGeom>
          <a:solidFill>
            <a:srgbClr val="BFD6EE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4974336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クラッド（跳ね返す層）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5413248"/>
            <a:ext cx="219456" cy="219456"/>
          </a:xfrm>
          <a:prstGeom prst="rect">
            <a:avLst/>
          </a:prstGeom>
          <a:solidFill>
            <a:srgbClr val="DDE3EA"/>
          </a:solidFill>
          <a:ln w="635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47304" y="5394960"/>
            <a:ext cx="3840480" cy="27432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  <a:latin typeface="Meiryo"/>
              </a:rPr>
              <a:t>被覆（保護の服）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種類：シングルモード vs マルチモード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シングルモード(SMF)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マルチモード(MMF)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コア径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細い（約9µm）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太い（約50〜62.5µm）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距離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長距離が得意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短距離向け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非常に大きい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大きい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コスト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機器が高め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比較的安い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主用途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幹線・光回線・海底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建物内・データセンター内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データの流れ：電気 → 光 → 電気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送信側：電気の1/0をレーザー/LEDの点滅に変換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伝送中：光が全反射しながら高速で進む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受信側：フォトダイオードが光を電気の1/0へ戻す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長距離では中継器・光増幅器(EDFA)で光を増幅して届ける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メリットとデメリット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メリット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デメリット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超高速・大容量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折れ・急な曲げに弱い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遠くまで届く（低減衰）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接続作業がデリケート（専用工具）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電気ノイズに強い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電気（電力）は送れない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軽くて細い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>端末で電気⇄光の変換機器が必要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1F3A5F"/>
                          </a:solidFill>
                          <a:latin typeface="Meiryo"/>
                        </a:rPr>
                        <a:t>盗聴されにくい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444444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身近な使われ方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家庭の光回線（FTTH）：電柱→家へ引込み、ONUで光⇄電気変換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海底ケーブル：大陸間を結び国際通信を支える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データセンター：サーバー同士を光で高速接続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携帯基地局間：スマホの裏側も基地局間は光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医療・工業：内視鏡、レーザー加工、センサーなど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DB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65176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CFE0F2"/>
                </a:solidFill>
                <a:latin typeface="Meiryo"/>
              </a:rPr>
              <a:t>第2部</a:t>
            </a:r>
          </a:p>
          <a:p>
            <a:r>
              <a:rPr sz="4000" b="1">
                <a:solidFill>
                  <a:srgbClr val="FFFFFF"/>
                </a:solidFill>
                <a:latin typeface="Meiryo"/>
              </a:rPr>
              <a:t>ケーブル・コードと接続部材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テープスロット型 vs 層より型ケーブル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テープスロット型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層より型（ストランド型）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心線の並べ方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テープ心線を溝(スロット)に積層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心線をテンションメンバ周りに層状撚り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心数・密度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超多心・高密度が得意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中小心数向け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接続作業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多心一括融着で速い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単心ごとに融着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単心の分岐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テープ単位(SZ撚りで中間分岐可)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単心の識別・分岐がしやすい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主用途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幹線・大容量・地下管路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中小規模配線・引き落とし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単心 / メガネ / FOコードの違い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4389120"/>
                <a:gridCol w="3200400"/>
              </a:tblGrid>
              <a:tr h="6858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心線数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形・特徴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</a:rPr>
                        <a:t>主な用途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単心コード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1心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円1つ。単方向(シンプレクス)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機器接続・パッチ片側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メガネコード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2心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8の字型。双方向・裂いて分離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スイッチ／サーバー間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3A5F"/>
                          </a:solidFill>
                          <a:latin typeface="Meiryo"/>
                        </a:rPr>
                        <a:t>FOコード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4/8/12心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テープ心線を1心ずつに展開(ファンアウト)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444444"/>
                          </a:solidFill>
                          <a:latin typeface="Meiryo"/>
                        </a:rPr>
                        <a:t>架内配線・テープ心線の成端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805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444444"/>
                </a:solidFill>
                <a:latin typeface="Meiryo"/>
              </a:rPr>
              <a:t>• FO＝Fiber Optic ではなく「ファンアウト(Fan-Out)」の略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ケーブルとコードの違い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34840"/>
                <a:gridCol w="443484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コード（cord）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ケーブル（cable）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主な場所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屋内・機器のそば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屋外・長距離・幹線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心数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1〜十数心が中心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数十〜数千心も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強度部材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アラミド繊維で軽く補強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鋼線/FRPで頑丈に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外被・耐性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柔らかく取り回し重視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厚く頑丈・防水耐候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機器⇄配線盤の最後の区間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区間と区間を結ぶ幹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成端箱とクロージャの違い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2588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観点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成端箱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eiryo"/>
                        </a:rPr>
                        <a:t>クロージャ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位置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ケーブルの端末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ケーブルの途中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主目的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心線をコネクタ化(成端)して機器へ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接続・分岐点を保護・収納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設置場所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屋内が中心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屋外(架空・地中)が中心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防水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屋内前提(屋外型もあり)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防水・防塵が前提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F3A5F"/>
                          </a:solidFill>
                          <a:latin typeface="Meiryo"/>
                        </a:rPr>
                        <a:t>イメージ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配線盤/パッチパネル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444444"/>
                          </a:solidFill>
                          <a:latin typeface="Meiryo"/>
                        </a:rPr>
                        <a:t>電線途中の保護ボックス</a:t>
                      </a:r>
                    </a:p>
                  </a:txBody>
                  <a:tcPr>
                    <a:solidFill>
                      <a:srgbClr val="EDF3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/>
            <a:r>
              <a:rPr sz="2600" b="1">
                <a:solidFill>
                  <a:srgbClr val="FFFFFF"/>
                </a:solidFill>
                <a:latin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光ファイバー＝全反射で光を閉じ込めて運ぶガラスの糸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コア径でシングルモード(長距離)／マルチモード(短距離)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集合方式：テープスロット型(高密度)／層より型(分岐容易)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コード：単心(1)・メガネ(2)・FO(テープ展開)で使い分け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ケーブル=屋外頑丈多心／コード=屋内柔軟機器寄り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444444"/>
                </a:solidFill>
                <a:latin typeface="Meiryo"/>
              </a:rPr>
              <a:t>• 成端箱=端末でコネクタ化／クロージャ=途中を防水保護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